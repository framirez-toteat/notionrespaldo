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embeddedFontLst>
    <p:embeddedFont>
      <p:font typeface="Play" panose="020B0604020202020204" charset="0"/>
      <p:regular r:id="rId11"/>
      <p:bold r:id="rId1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fuAu6Q8+3JDCM/XeyxnJDiY5K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customschemas.google.com/relationships/presentationmetadata" Target="meta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157d31a129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0" name="Google Shape;120;g2157d31a129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157d31a12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g2157d31a12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157d31a12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g2157d31a12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44290193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2157d31a129_0_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33" name="Google Shape;133;g2157d31a129_0_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743330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13725"/>
          </a:srgbClr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 descr="Forma, Rectángul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84748"/>
            <a:ext cx="12192000" cy="57531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/>
        </p:nvSpPr>
        <p:spPr>
          <a:xfrm>
            <a:off x="1879059" y="-6"/>
            <a:ext cx="8433900" cy="532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600"/>
              <a:buFont typeface="Arial"/>
              <a:buNone/>
            </a:pPr>
            <a:r>
              <a:rPr lang="es-ES" sz="8500" b="1">
                <a:solidFill>
                  <a:schemeClr val="dk1"/>
                </a:solidFill>
              </a:rPr>
              <a:t>CAPACITACIÓN REGLAS DE IMPRESIÓN SAC</a:t>
            </a:r>
            <a:endParaRPr sz="3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86" name="Google Shape;86;p1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9537" y="5194640"/>
            <a:ext cx="3071127" cy="18422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13725"/>
          </a:srgbClr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2" descr="Forma, Rectángul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84748"/>
            <a:ext cx="12192000" cy="5753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9537" y="5194640"/>
            <a:ext cx="3071127" cy="1842234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2"/>
          <p:cNvSpPr txBox="1"/>
          <p:nvPr/>
        </p:nvSpPr>
        <p:spPr>
          <a:xfrm>
            <a:off x="1138989" y="617621"/>
            <a:ext cx="102669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ES" sz="2100" b="1" dirty="0">
                <a:solidFill>
                  <a:schemeClr val="dk1"/>
                </a:solidFill>
              </a:rPr>
              <a:t>Reglas:</a:t>
            </a:r>
            <a:endParaRPr sz="17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957666" y="1033118"/>
            <a:ext cx="8606700" cy="41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marR="0" lvl="0" indent="-3619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●"/>
            </a:pPr>
            <a:r>
              <a:rPr lang="es-ES" sz="2100">
                <a:solidFill>
                  <a:schemeClr val="dk1"/>
                </a:solidFill>
              </a:rPr>
              <a:t>Cuando se direcciona según sectores o jerarquías,  </a:t>
            </a:r>
            <a:endParaRPr sz="1800">
              <a:solidFill>
                <a:schemeClr val="dk1"/>
              </a:solidFill>
            </a:endParaRPr>
          </a:p>
        </p:txBody>
      </p:sp>
      <p:sp>
        <p:nvSpPr>
          <p:cNvPr id="95" name="Google Shape;95;p2"/>
          <p:cNvSpPr txBox="1"/>
          <p:nvPr/>
        </p:nvSpPr>
        <p:spPr>
          <a:xfrm>
            <a:off x="1527400" y="2226300"/>
            <a:ext cx="10686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>
              <a:solidFill>
                <a:schemeClr val="dk1"/>
              </a:solidFill>
            </a:endParaRPr>
          </a:p>
        </p:txBody>
      </p:sp>
      <p:pic>
        <p:nvPicPr>
          <p:cNvPr id="96" name="Google Shape;96;p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62125" y="2009800"/>
            <a:ext cx="5804224" cy="28384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97" name="Google Shape;97;p2"/>
          <p:cNvPicPr preferRelativeResize="0"/>
          <p:nvPr/>
        </p:nvPicPr>
        <p:blipFill rotWithShape="1">
          <a:blip r:embed="rId6">
            <a:alphaModFix/>
          </a:blip>
          <a:srcRect r="25794"/>
          <a:stretch/>
        </p:blipFill>
        <p:spPr>
          <a:xfrm>
            <a:off x="6397874" y="2009775"/>
            <a:ext cx="5551374" cy="30386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13730"/>
          </a:srgbClr>
        </a:solid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3" descr="Logotipo&#10;&#10;Descripción generada automáticament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20875" y="5443373"/>
            <a:ext cx="3071125" cy="1494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3" descr="Forma, Rectángulo&#10;&#10;Descripción generada automáticamente con confianza media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0" y="2284075"/>
            <a:ext cx="12192000" cy="465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3"/>
          <p:cNvSpPr txBox="1"/>
          <p:nvPr/>
        </p:nvSpPr>
        <p:spPr>
          <a:xfrm>
            <a:off x="236700" y="184300"/>
            <a:ext cx="11096100" cy="12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ES" sz="2100">
                <a:solidFill>
                  <a:schemeClr val="dk1"/>
                </a:solidFill>
              </a:rPr>
              <a:t>Si requiere copias, permite máximo 2 desde Config - impresoras. Si el cliente requiere una 3 o 4 se debe manejar mediante Copia de armado. (Restaurantes- Ajustes generales - Impresoras)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05" name="Google Shape;105;p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0975" y="1426100"/>
            <a:ext cx="6117351" cy="40172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06" name="Google Shape;106;p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032300" y="1102101"/>
            <a:ext cx="4568284" cy="434127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13730"/>
          </a:srgbClr>
        </a:solid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Google Shape;111;p4" descr="Forma, Rectángul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84748"/>
            <a:ext cx="12192000" cy="575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4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9537" y="5194640"/>
            <a:ext cx="3071125" cy="1842233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4"/>
          <p:cNvSpPr txBox="1"/>
          <p:nvPr/>
        </p:nvSpPr>
        <p:spPr>
          <a:xfrm>
            <a:off x="198150" y="138050"/>
            <a:ext cx="110961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ES" sz="2100" b="1">
                <a:solidFill>
                  <a:schemeClr val="dk1"/>
                </a:solidFill>
              </a:rPr>
              <a:t>Excepción:</a:t>
            </a:r>
            <a:r>
              <a:rPr lang="es-ES" sz="2100">
                <a:solidFill>
                  <a:schemeClr val="dk1"/>
                </a:solidFill>
              </a:rPr>
              <a:t> En el caso de que requiera que productos de la misma jerarquía se impriman con diferentes reglas. </a:t>
            </a:r>
            <a:endParaRPr sz="2800">
              <a:solidFill>
                <a:schemeClr val="dk1"/>
              </a:solidFill>
            </a:endParaRPr>
          </a:p>
        </p:txBody>
      </p:sp>
      <p:pic>
        <p:nvPicPr>
          <p:cNvPr id="114" name="Google Shape;114;p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51275" y="1077049"/>
            <a:ext cx="4392200" cy="28194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5" name="Google Shape;115;p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71776" y="638000"/>
            <a:ext cx="4470800" cy="325847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6" name="Google Shape;116;p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348475" y="4152600"/>
            <a:ext cx="6887109" cy="104205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7" name="Google Shape;117;p4"/>
          <p:cNvSpPr txBox="1"/>
          <p:nvPr/>
        </p:nvSpPr>
        <p:spPr>
          <a:xfrm>
            <a:off x="8558725" y="4037663"/>
            <a:ext cx="34236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dk1"/>
                </a:solidFill>
              </a:rPr>
              <a:t>también se puede manejar aplicando excepción con su respectivo sector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13730"/>
          </a:srgbClr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g2157d31a129_0_22" descr="Forma, Rectángul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3357875"/>
            <a:ext cx="12192000" cy="3579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2157d31a129_0_22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9525" y="5785149"/>
            <a:ext cx="3071125" cy="1251724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g2157d31a129_0_22"/>
          <p:cNvSpPr txBox="1"/>
          <p:nvPr/>
        </p:nvSpPr>
        <p:spPr>
          <a:xfrm>
            <a:off x="0" y="0"/>
            <a:ext cx="12392400" cy="101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s-ES" sz="1800" dirty="0">
                <a:solidFill>
                  <a:schemeClr val="dk1"/>
                </a:solidFill>
              </a:rPr>
              <a:t>En caso de locales </a:t>
            </a:r>
            <a:r>
              <a:rPr lang="es-ES" sz="1800" dirty="0" err="1">
                <a:solidFill>
                  <a:schemeClr val="dk1"/>
                </a:solidFill>
              </a:rPr>
              <a:t>take</a:t>
            </a:r>
            <a:r>
              <a:rPr lang="es-ES" sz="1800" dirty="0">
                <a:solidFill>
                  <a:schemeClr val="dk1"/>
                </a:solidFill>
              </a:rPr>
              <a:t> </a:t>
            </a:r>
            <a:r>
              <a:rPr lang="es-ES" sz="1800" dirty="0" err="1">
                <a:solidFill>
                  <a:schemeClr val="dk1"/>
                </a:solidFill>
              </a:rPr>
              <a:t>away</a:t>
            </a:r>
            <a:r>
              <a:rPr lang="es-ES" sz="1800" dirty="0">
                <a:solidFill>
                  <a:schemeClr val="dk1"/>
                </a:solidFill>
              </a:rPr>
              <a:t>, que requieren sectorizar las mesas virtuales por caja, es decir que las comandas que se envían desde x caja impriman allí. Se debe crear los sectores para cada caja(Restaurantes - Sectores ), y asignarlo a las cajas (Restaurantes - Cajas)</a:t>
            </a:r>
            <a:endParaRPr sz="1800" dirty="0">
              <a:solidFill>
                <a:schemeClr val="dk1"/>
              </a:solidFill>
            </a:endParaRPr>
          </a:p>
        </p:txBody>
      </p:sp>
      <p:pic>
        <p:nvPicPr>
          <p:cNvPr id="125" name="Google Shape;125;g2157d31a129_0_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71775" y="1020800"/>
            <a:ext cx="5785312" cy="2677725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6" name="Google Shape;126;g2157d31a129_0_2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882925" y="673350"/>
            <a:ext cx="5237725" cy="3025179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27" name="Google Shape;127;g2157d31a129_0_2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928100" y="3942925"/>
            <a:ext cx="6776400" cy="1842226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28" name="Google Shape;128;g2157d31a129_0_22"/>
          <p:cNvSpPr/>
          <p:nvPr/>
        </p:nvSpPr>
        <p:spPr>
          <a:xfrm>
            <a:off x="9194425" y="1527800"/>
            <a:ext cx="886200" cy="577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g2157d31a129_0_22"/>
          <p:cNvSpPr/>
          <p:nvPr/>
        </p:nvSpPr>
        <p:spPr>
          <a:xfrm>
            <a:off x="5652900" y="4280825"/>
            <a:ext cx="886200" cy="577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g2157d31a129_0_22"/>
          <p:cNvSpPr/>
          <p:nvPr/>
        </p:nvSpPr>
        <p:spPr>
          <a:xfrm>
            <a:off x="5753100" y="5049700"/>
            <a:ext cx="886200" cy="5778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13730"/>
          </a:srgbClr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2157d31a129_0_27" descr="Forma, Rectángul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84748"/>
            <a:ext cx="12192000" cy="575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157d31a129_0_27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9537" y="5194640"/>
            <a:ext cx="3071125" cy="1842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157d31a129_0_27"/>
          <p:cNvSpPr txBox="1"/>
          <p:nvPr/>
        </p:nvSpPr>
        <p:spPr>
          <a:xfrm>
            <a:off x="150" y="0"/>
            <a:ext cx="12192000" cy="5355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dk1"/>
                </a:solidFill>
              </a:rPr>
              <a:t>Puntos a tener en cuenta:</a:t>
            </a:r>
            <a:endParaRPr sz="2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ES" sz="2800" dirty="0">
                <a:solidFill>
                  <a:schemeClr val="dk1"/>
                </a:solidFill>
              </a:rPr>
              <a:t>No se puede repetir una misma regla en dos impresoras.</a:t>
            </a: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ES" sz="2800" dirty="0">
                <a:solidFill>
                  <a:schemeClr val="dk1"/>
                </a:solidFill>
              </a:rPr>
              <a:t>Aplica la misma lógica de reglas de productos para los extras.</a:t>
            </a: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ES" sz="2800" dirty="0">
                <a:solidFill>
                  <a:schemeClr val="dk1"/>
                </a:solidFill>
              </a:rPr>
              <a:t>Siempre que se </a:t>
            </a:r>
            <a:r>
              <a:rPr lang="es-ES" sz="2800" dirty="0" err="1">
                <a:solidFill>
                  <a:schemeClr val="dk1"/>
                </a:solidFill>
              </a:rPr>
              <a:t>envie</a:t>
            </a:r>
            <a:r>
              <a:rPr lang="es-ES" sz="2800" dirty="0">
                <a:solidFill>
                  <a:schemeClr val="dk1"/>
                </a:solidFill>
              </a:rPr>
              <a:t> copia de comanda debe dejarse el número 1.</a:t>
            </a: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ES" sz="2800" dirty="0">
                <a:solidFill>
                  <a:schemeClr val="dk1"/>
                </a:solidFill>
              </a:rPr>
              <a:t>Para el KDS  si se maneja por jerarquía no funciona con reglas de excepción, en dicho caso se debe manejar por impresoras. </a:t>
            </a:r>
            <a:endParaRPr sz="2800" dirty="0">
              <a:solidFill>
                <a:schemeClr val="dk1"/>
              </a:solidFill>
            </a:endParaRPr>
          </a:p>
          <a:p>
            <a:pPr marL="457200" lvl="0" indent="-4064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Char char="●"/>
            </a:pPr>
            <a:r>
              <a:rPr lang="es-ES" sz="2800" dirty="0">
                <a:solidFill>
                  <a:schemeClr val="dk1"/>
                </a:solidFill>
              </a:rPr>
              <a:t>Para guiarse cuando ya tiene creadas las reglas, preguntar si ya maneja un producto que imprima como lo desea.</a:t>
            </a:r>
          </a:p>
          <a:p>
            <a:pPr marL="508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sz="2800" dirty="0">
              <a:solidFill>
                <a:schemeClr val="dk1"/>
              </a:solidFill>
            </a:endParaRPr>
          </a:p>
        </p:txBody>
      </p:sp>
      <p:pic>
        <p:nvPicPr>
          <p:cNvPr id="138" name="Google Shape;138;g2157d31a129_0_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4125" y="2272472"/>
            <a:ext cx="6172200" cy="44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13730"/>
          </a:srgbClr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2157d31a129_0_27" descr="Forma, Rectángul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84748"/>
            <a:ext cx="12192000" cy="575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157d31a129_0_27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9537" y="5194640"/>
            <a:ext cx="3071125" cy="1842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157d31a129_0_27"/>
          <p:cNvSpPr txBox="1"/>
          <p:nvPr/>
        </p:nvSpPr>
        <p:spPr>
          <a:xfrm>
            <a:off x="150" y="0"/>
            <a:ext cx="121920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dk1"/>
                </a:solidFill>
              </a:rPr>
              <a:t>Puntos a tener en cuenta:</a:t>
            </a:r>
            <a:endParaRPr sz="2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508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3D504F9C-FA64-4FB9-8D0E-6BABDF894B7F}"/>
              </a:ext>
            </a:extLst>
          </p:cNvPr>
          <p:cNvSpPr txBox="1"/>
          <p:nvPr/>
        </p:nvSpPr>
        <p:spPr>
          <a:xfrm>
            <a:off x="789709" y="562504"/>
            <a:ext cx="2223686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No imprime comanda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D8A06185-D9E5-4C54-9274-873F454893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23666" y="870652"/>
            <a:ext cx="6166464" cy="4323988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7FD8104-7377-44F9-9588-D849C25A03A1}"/>
              </a:ext>
            </a:extLst>
          </p:cNvPr>
          <p:cNvSpPr txBox="1"/>
          <p:nvPr/>
        </p:nvSpPr>
        <p:spPr>
          <a:xfrm>
            <a:off x="6494822" y="562504"/>
            <a:ext cx="4004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Casos locales con varias marcas(jerarquías)</a:t>
            </a:r>
          </a:p>
          <a:p>
            <a:endParaRPr lang="es-CO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4E83168-8E25-4826-9B33-8D4123992B0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29751"/>
          <a:stretch/>
        </p:blipFill>
        <p:spPr>
          <a:xfrm>
            <a:off x="130329" y="876870"/>
            <a:ext cx="5566850" cy="1924519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1FD25F0D-E4F4-4604-9ADF-559C8268740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28306" b="43389"/>
          <a:stretch/>
        </p:blipFill>
        <p:spPr>
          <a:xfrm>
            <a:off x="412031" y="3032646"/>
            <a:ext cx="5209615" cy="1398471"/>
          </a:xfrm>
          <a:prstGeom prst="rect">
            <a:avLst/>
          </a:prstGeom>
          <a:ln w="127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974490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C99">
            <a:alpha val="13730"/>
          </a:srgbClr>
        </a:solidFill>
        <a:effectLst/>
      </p:bgPr>
    </p:bg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g2157d31a129_0_27" descr="Forma, Rectángulo&#10;&#10;Descripción generada automáticamente con confianza medi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1184748"/>
            <a:ext cx="12192000" cy="5753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2157d31a129_0_27" descr="Logotipo&#10;&#10;Descripción generada automáticament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049537" y="5194640"/>
            <a:ext cx="3071125" cy="1842233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g2157d31a129_0_27"/>
          <p:cNvSpPr txBox="1"/>
          <p:nvPr/>
        </p:nvSpPr>
        <p:spPr>
          <a:xfrm>
            <a:off x="150" y="0"/>
            <a:ext cx="12192000" cy="14772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 b="1" dirty="0">
                <a:solidFill>
                  <a:schemeClr val="dk1"/>
                </a:solidFill>
              </a:rPr>
              <a:t>Puntos a tener en cuenta:</a:t>
            </a:r>
            <a:endParaRPr sz="2800" b="1"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800" dirty="0">
              <a:solidFill>
                <a:schemeClr val="dk1"/>
              </a:solidFill>
            </a:endParaRPr>
          </a:p>
          <a:p>
            <a:pPr marL="50800" lvl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</a:pPr>
            <a:endParaRPr sz="2800" dirty="0">
              <a:solidFill>
                <a:schemeClr val="dk1"/>
              </a:solidFill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3FBB8D67-4891-46A6-9A27-B0FEB5A76925}"/>
              </a:ext>
            </a:extLst>
          </p:cNvPr>
          <p:cNvSpPr txBox="1"/>
          <p:nvPr/>
        </p:nvSpPr>
        <p:spPr>
          <a:xfrm>
            <a:off x="1019728" y="738648"/>
            <a:ext cx="297068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Asignar sector a la mesa virtual</a:t>
            </a:r>
          </a:p>
          <a:p>
            <a:endParaRPr lang="es-CO" dirty="0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ED64AE6F-96D1-4AD9-877E-80CC60CD76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0330" y="1139381"/>
            <a:ext cx="7026249" cy="1722269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2" name="CuadroTexto 1">
            <a:extLst>
              <a:ext uri="{FF2B5EF4-FFF2-40B4-BE49-F238E27FC236}">
                <a16:creationId xmlns:a16="http://schemas.microsoft.com/office/drawing/2014/main" id="{ECA910F9-A28D-4357-A747-7277934BE950}"/>
              </a:ext>
            </a:extLst>
          </p:cNvPr>
          <p:cNvSpPr txBox="1"/>
          <p:nvPr/>
        </p:nvSpPr>
        <p:spPr>
          <a:xfrm>
            <a:off x="786972" y="3182080"/>
            <a:ext cx="886653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dirty="0"/>
              <a:t>Cuando las reglas de comanda están por sectores en diferentes impresoras. Se debe en todas sectorizar </a:t>
            </a:r>
            <a:br>
              <a:rPr lang="es-MX" dirty="0"/>
            </a:br>
            <a:r>
              <a:rPr lang="es-MX" dirty="0"/>
              <a:t>las jerarquías de lo contrario puede generar conflicto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3916224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275</Words>
  <Application>Microsoft Office PowerPoint</Application>
  <PresentationFormat>Panorámica</PresentationFormat>
  <Paragraphs>25</Paragraphs>
  <Slides>8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11" baseType="lpstr">
      <vt:lpstr>Play</vt:lpstr>
      <vt:lpstr>Arial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lorena moreno rodriguez</dc:creator>
  <cp:lastModifiedBy>Diana Serna</cp:lastModifiedBy>
  <cp:revision>3</cp:revision>
  <dcterms:created xsi:type="dcterms:W3CDTF">2024-01-15T14:59:33Z</dcterms:created>
  <dcterms:modified xsi:type="dcterms:W3CDTF">2025-01-21T02:14:08Z</dcterms:modified>
</cp:coreProperties>
</file>